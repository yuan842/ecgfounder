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Sensitivity</c:v>
                </c:pt>
              </c:strCache>
            </c:strRef>
          </c:tx>
          <c:spPr>
            <a:solidFill>
              <a:srgbClr val="0B539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Raw head @0.5</c:v>
                  </c:pt>
                  <c:pt idx="1">
                    <c:v>+ L1 (L2-off)</c:v>
                  </c:pt>
                  <c:pt idx="2">
                    <c:v>Full production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0.987</c:v>
                </c:pt>
                <c:pt idx="1">
                  <c:v>0.895</c:v>
                </c:pt>
                <c:pt idx="2">
                  <c:v>0.882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Specificity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Raw head @0.5</c:v>
                  </c:pt>
                  <c:pt idx="1">
                    <c:v>+ L1 (L2-off)</c:v>
                  </c:pt>
                  <c:pt idx="2">
                    <c:v>Full production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0.708</c:v>
                </c:pt>
                <c:pt idx="1">
                  <c:v>0.876</c:v>
                </c:pt>
                <c:pt idx="2">
                  <c:v>0.935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4A25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Raw head @0.5</c:v>
                  </c:pt>
                  <c:pt idx="1">
                    <c:v>+ L1 (L2-off)</c:v>
                  </c:pt>
                  <c:pt idx="2">
                    <c:v>Full production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0.502</c:v>
                </c:pt>
                <c:pt idx="1">
                  <c:v>0.657</c:v>
                </c:pt>
                <c:pt idx="2">
                  <c:v>0.761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D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L2-off (L1 only)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Sensitivity (A)</c:v>
                  </c:pt>
                  <c:pt idx="1">
                    <c:v>Specificity (N)</c:v>
                  </c:pt>
                  <c:pt idx="2">
                    <c:v>Fire-rate Other ↓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0.895</c:v>
                </c:pt>
                <c:pt idx="1">
                  <c:v>0.876</c:v>
                </c:pt>
                <c:pt idx="2">
                  <c:v>0.282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L2-on (full production)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Sensitivity (A)</c:v>
                  </c:pt>
                  <c:pt idx="1">
                    <c:v>Specificity (N)</c:v>
                  </c:pt>
                  <c:pt idx="2">
                    <c:v>Fire-rate Other ↓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0.882</c:v>
                </c:pt>
                <c:pt idx="1">
                  <c:v>0.935</c:v>
                </c:pt>
                <c:pt idx="2">
                  <c:v>0.178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D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OUT-OF-BOX EXTERNAL VALIDATION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7432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Single-Lead AFib Detector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PhysioNet/CinC Challenge 2017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4526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retraining · zero tuning · held-out test set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Clinical Executive Briefing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2026-06-02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out-of-box AFib performance on an unseen device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606040" cy="109728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88.2%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394"/>
                </a:solidFill>
              </a:rPr>
              <a:t>Sensitivity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AFib recordings caught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150876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508760"/>
            <a:ext cx="260604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7373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93.5%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355848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Specificity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93008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normal recordings left alone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50876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508760"/>
            <a:ext cx="2606040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17373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163056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</a:rPr>
              <a:t>ROC-AUC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0216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overall discrimination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70264" y="150876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70264" y="1508760"/>
            <a:ext cx="2606040" cy="109728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21" name="Text 19"/>
          <p:cNvSpPr/>
          <p:nvPr/>
        </p:nvSpPr>
        <p:spPr>
          <a:xfrm>
            <a:off x="8970264" y="17373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0.76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8970264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59"/>
                </a:solidFill>
              </a:rPr>
              <a:t>F1 score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07424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balanced precision / recall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11064240" cy="2240280"/>
          </a:xfrm>
          <a:prstGeom prst="rect">
            <a:avLst/>
          </a:prstGeom>
          <a:solidFill>
            <a:srgbClr val="11244A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657600"/>
            <a:ext cx="109728" cy="224028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886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A259"/>
                </a:solidFill>
              </a:rPr>
              <a:t>BOTTOM LINE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4251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calibrated only on our own ambulatory single-lead data generalizes to a different handheld device at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AUC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production post-processing turns a raw model that fires indiscriminately (F1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into a deployable detector (F1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with clinically usable specificity.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 · Out-of-Box AFib Validation on PhysioNet/CinC Challenge 2017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validate on an external dataset?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80160"/>
          </a:xfrm>
          <a:prstGeom prst="rect">
            <a:avLst/>
          </a:prstGeom>
          <a:solidFill>
            <a:srgbClr val="EAF1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676656" cy="676656"/>
          </a:xfrm>
          <a:prstGeom prst="ellipse">
            <a:avLst/>
          </a:prstGeom>
          <a:solidFill>
            <a:srgbClr val="1124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0136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Calibrated on one device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920240" y="220370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AFib head was tuned on the fzark ambulatory single-lead cohort. We must prove it holds on data it never saw.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1064240" cy="1280160"/>
          </a:xfrm>
          <a:prstGeom prst="rect">
            <a:avLst/>
          </a:prstGeom>
          <a:solidFill>
            <a:srgbClr val="EAF1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364992"/>
            <a:ext cx="676656" cy="676656"/>
          </a:xfrm>
          <a:prstGeom prst="ellipse">
            <a:avLst/>
          </a:prstGeom>
          <a:solidFill>
            <a:srgbClr val="1124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520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2644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independent benchmark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1920240" y="366674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2017: 8,528 publicly-labeled single-lead recordings from a different handheld device (AliveCor, 300 Hz).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solidFill>
            <a:srgbClr val="EAF1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828032"/>
            <a:ext cx="676656" cy="676656"/>
          </a:xfrm>
          <a:prstGeom prst="ellipse">
            <a:avLst/>
          </a:prstGeom>
          <a:solidFill>
            <a:srgbClr val="1124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9834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72744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Zero-leakage generalization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920240" y="512978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never trained on this data — a true out-of-box test of real-world robustness.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 · Out-of-Box AFib Validation on PhysioNet/CinC Challenge 2017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Dataset, split, and recording-level detection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Challenge 2017 — 8,528 single-lead recordings (30–60 s)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6692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1005840"/>
                <a:gridCol w="15544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sinus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 (clean)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Atrial fibrillation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rhythm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148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maps to a production scope event (AFib).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the clean negative; O and ~ are reported for context only (mixed / noise), excluded from binary metrics.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92240" y="1783080"/>
            <a:ext cx="5120640" cy="1417320"/>
          </a:xfrm>
          <a:prstGeom prst="rect">
            <a:avLst/>
          </a:prstGeom>
          <a:solidFill>
            <a:srgbClr val="EAF1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2084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STRATIFIED 80 / 10 / 10 SPLIT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20840" y="22860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Per-class, seed-fixed, frozen as a manifest.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1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tuning context ·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1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held-out report (852 recordings).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92240" y="3383280"/>
            <a:ext cx="5120640" cy="1645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20840" y="3538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RECORDING-LEVEL DETECTION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20840" y="38862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each recording into 10 s windows → preprocess (300→500 Hz, notch, band-pass, normalize) → score every window.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1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recording is flagged AFib if any window fires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identical to the production recording report.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 · Out-of-Box AFib Validation on PhysioNet/CinC Challenge 2017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PRODUCTION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three-stage pipeline on a frozen foundation backbone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566160" cy="128016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2194560"/>
            <a:ext cx="731520" cy="731520"/>
          </a:xfrm>
          <a:prstGeom prst="ellipse">
            <a:avLst/>
          </a:prstGeom>
          <a:solidFill>
            <a:srgbClr val="1124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52" y="23591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Backbone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3456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B5394"/>
                </a:solidFill>
              </a:rPr>
              <a:t>ECGFounder 1-lead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150-head foundation model. Raw per-event probabilities.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53128" y="1783080"/>
            <a:ext cx="3566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53128" y="1783080"/>
            <a:ext cx="3566160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5870448" y="2194560"/>
            <a:ext cx="731520" cy="731520"/>
          </a:xfrm>
          <a:prstGeom prst="ellipse">
            <a:avLst/>
          </a:prstGeom>
          <a:solidFill>
            <a:srgbClr val="11244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5915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53128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· Calibration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453128" y="3456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</a:rPr>
              <a:t>fzarkSL projection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727448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Re-calibrates data-rich heads (AFib, Brady, Tachy) to device operating points.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357616" y="1783080"/>
            <a:ext cx="3566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57616" y="1783080"/>
            <a:ext cx="3566160" cy="12801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0" name="Shape 16"/>
          <p:cNvSpPr/>
          <p:nvPr/>
        </p:nvSpPr>
        <p:spPr>
          <a:xfrm>
            <a:off x="9774936" y="2194560"/>
            <a:ext cx="731520" cy="731520"/>
          </a:xfrm>
          <a:prstGeom prst="ellipse">
            <a:avLst/>
          </a:prstGeom>
          <a:solidFill>
            <a:srgbClr val="11244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528" y="235915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57616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 · Arbiter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8357616" y="3456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EC4B6"/>
                </a:solidFill>
              </a:rPr>
              <a:t>GT-matched rules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631936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suppression of impossible co-firings. Cuts false alarms, no learned weights.</a:t>
            </a:r>
            <a:endParaRPr lang="en-US" sz="1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3200400"/>
            <a:ext cx="384048" cy="384048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20040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This study isolates each stage's contribution to the final result.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 · Out-of-Box AFib Validation on PhysioNet/CinC Challenge 2017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RESULTS · HELD-OUT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head → L1 calibration → full production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83080"/>
            <a:ext cx="3931920" cy="3703320"/>
          </a:xfrm>
          <a:prstGeom prst="rect">
            <a:avLst/>
          </a:prstGeom>
          <a:solidFill>
            <a:srgbClr val="1124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80960" y="1783080"/>
            <a:ext cx="109728" cy="370332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259"/>
                </a:solidFill>
              </a:rPr>
              <a:t>WHAT THE PIPELINE BUYS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Specificity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</a:rPr>
              <a:t>0.71 → 0.94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55280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+23 pp false-positive reduction on normals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55280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Precision (PPV)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</a:rPr>
              <a:t>0.34 → 0.67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955280" y="3685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nearly doubled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955280" y="3941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F1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</a:rPr>
              <a:t>0.50 → 0.76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955280" y="4443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undeployable → deployable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955280" y="4700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Sensitivity cost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55280" y="4946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</a:rPr>
              <a:t>0.99 → 0.88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955280" y="5202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modest, intentional trade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 · Out-of-Box AFib Validation on PhysioNet/CinC Challenge 2017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 arbitration: more specificity at almost no sensitivity cost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8308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19476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44A"/>
                </a:solidFill>
              </a:rPr>
              <a:t>Specificity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01000" y="22037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+5.9 pp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78408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0.876 → 0.935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0" y="301752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01000" y="31821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44A"/>
                </a:solidFill>
              </a:rPr>
              <a:t>Other fire-rate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01000" y="34381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−10.4 pp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78408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0.282 → 0.178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425196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01000" y="4416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44A"/>
                </a:solidFill>
              </a:rPr>
              <a:t>Sensitivity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01000" y="46725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−1.3 pp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78408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0.895 → 0.882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 · Out-of-Box AFib Validation on PhysioNet/CinC Challenge 2017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TECHNICAL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overlay calibrates the decision point — not the ranking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3931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head ranks slightly better…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Raw head ROC-AUC </a:t>
            </a:r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</a:rPr>
              <a:t>0.983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  vs  L1 </a:t>
            </a:r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</a:rPr>
              <a:t>0.946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  (test).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1089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the raw head is useless at its default 0.5 threshold — it fires on 29% of normal recordings.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2976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1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AUC ≠ deployable. A usable operating point is what matters in production.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645920"/>
            <a:ext cx="5349240" cy="3931920"/>
          </a:xfrm>
          <a:prstGeom prst="rect">
            <a:avLst/>
          </a:prstGeom>
          <a:solidFill>
            <a:srgbClr val="1124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645920"/>
            <a:ext cx="109728" cy="39319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</a:rPr>
              <a:t>WHAT THE OVERLAY DELIVERS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0" y="23774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A259"/>
                </a:solidFill>
              </a:rPr>
              <a:t>L1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  maps the raw score to a usable threshold — specificity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EC4B6"/>
                </a:solidFill>
              </a:rPr>
              <a:t>0.876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 at τ = 0.54.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0" y="32461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A259"/>
                </a:solidFill>
              </a:rPr>
              <a:t>L2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  adds specificity on top →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EC4B6"/>
                </a:solidFill>
              </a:rPr>
              <a:t>0.935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, changing the binary decision, not the score (so AUC is unchanged L2-off vs on).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83680" y="4526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4A259"/>
                </a:solidFill>
              </a:rPr>
              <a:t>Headroom: </a:t>
            </a:r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BD5E1"/>
                </a:solidFill>
              </a:rPr>
              <a:t>re-fitting L1 toward this distribution could recover ranking AUC for a multi-device operating point.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 · Out-of-Box AFib Validation on PhysioNet/CinC Challenge 2017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numbers mean at the bedside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777240" cy="777240"/>
          </a:xfrm>
          <a:prstGeom prst="ellipse">
            <a:avLst/>
          </a:prstGeom>
          <a:solidFill>
            <a:srgbClr val="1124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8541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47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Catches ~8 of 9 AFib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4688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sensitivity on an unseen handheld device — strong for ambulatory screening / triage.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011680"/>
            <a:ext cx="777240" cy="777240"/>
          </a:xfrm>
          <a:prstGeom prst="ellipse">
            <a:avLst/>
          </a:prstGeom>
          <a:solidFill>
            <a:srgbClr val="1124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185416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47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Clears ~19 of 20 normals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06640" y="24688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 specificity keeps the false-alarm burden low, reducing clinician alert fatigue.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349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977640"/>
            <a:ext cx="777240" cy="777240"/>
          </a:xfrm>
          <a:prstGeom prst="ellipse">
            <a:avLst/>
          </a:prstGeom>
          <a:solidFill>
            <a:srgbClr val="1124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151376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913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spurious alerts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44348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−23 pp false-positive reduction vs the raw model means far fewer non-AFib alerts reach review.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657600"/>
            <a:ext cx="5349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977640"/>
            <a:ext cx="777240" cy="777240"/>
          </a:xfrm>
          <a:prstGeom prst="ellipse">
            <a:avLst/>
          </a:prstGeom>
          <a:solidFill>
            <a:srgbClr val="5A421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151376"/>
            <a:ext cx="429768" cy="429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913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“Other” fires ~18%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06640" y="44348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— that class contains AF-like and other arrhythmias; not a pure false-positive rate.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 · Out-of-Box AFib Validation on PhysioNet/CinC Challenge 2017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scope and where we go from 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931920"/>
          </a:xfrm>
          <a:prstGeom prst="rect">
            <a:avLst/>
          </a:prstGeom>
          <a:solidFill>
            <a:srgbClr val="FCF3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928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4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AFib maps 1:1 to a production scope event — other arrhythmia heads not evaluable here.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“Other” / “Noisy” are not clean negatives — shown as context, excluded from binary metrics.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Recording-level any-window-fires rollup is sensitive to recording length.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positive count (76 AFib in test) — consistency with validation mitigates this.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645920"/>
            <a:ext cx="5303520" cy="3931920"/>
          </a:xfrm>
          <a:prstGeom prst="rect">
            <a:avLst/>
          </a:prstGeom>
          <a:solidFill>
            <a:srgbClr val="E9F3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8928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629400" y="25146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re-fit L1 for a multi-device operating point to recover ranking-AUC headroom.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validation to additional external single-lead datasets.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confidence intervals with a larger positive sample.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remaining tp_rex classes to broaden multi-event coverage.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 · Out-of-Box AFib Validation on PhysioNet/CinC Challenge 2017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63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85800" y="237744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17320" y="2331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Generalizes out-of-box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17320" y="2743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AUC, 88% / 94% sensitivity / specificity on an independent single-lead device — the calibration is not overfit to our device.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85800" y="36118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417320" y="3566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overlay is essential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417320" y="39776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L1 + L2 the raw model is undeployable (fires on 29% of normals). L2 alone buys +5.9 pp specificity at ~zero recall cost.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85800" y="484632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417320" y="4800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path forward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417320" y="52120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Re-fit L1 for multi-device deployment; broaden external validation; report CIs on a larger positive sample.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Artifacts: PROD_AFIB.md · CHALLENGE2017_STUDY_REPORT.md · csv/challenge2017_split.csv · scripts/eval_challenge2017_prod.py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Out-of-Box AFib Validation — Challenge 2017</dc:title>
  <dc:subject>PptxGenJS Presentation</dc:subject>
  <dc:creator>ECGFounder team</dc:creator>
  <cp:lastModifiedBy>ECGFounder team</cp:lastModifiedBy>
  <cp:revision>1</cp:revision>
  <dcterms:created xsi:type="dcterms:W3CDTF">2026-06-02T20:13:49Z</dcterms:created>
  <dcterms:modified xsi:type="dcterms:W3CDTF">2026-06-02T20:13:49Z</dcterms:modified>
</cp:coreProperties>
</file>